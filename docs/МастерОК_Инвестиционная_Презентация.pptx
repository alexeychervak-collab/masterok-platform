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(млн руб./год)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9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Год 1</c:v>
                  </c:pt>
                  <c:pt idx="1">
                    <c:v>Год 2</c:v>
                  </c:pt>
                  <c:pt idx="2">
                    <c:v>Год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76.8</c:v>
                </c:pt>
                <c:pt idx="1">
                  <c:v>306</c:v>
                </c:pt>
                <c:pt idx="2">
                  <c:v>765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9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925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9252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Распределение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FB923C"/>
              </a:solidFill>
              <a:effectLst/>
            </c:spPr>
          </c:dPt>
          <c:dPt>
            <c:idx val="2"/>
            <c:bubble3D val="0"/>
            <c:spPr>
              <a:solidFill>
                <a:srgbClr val="FDBA74"/>
              </a:solidFill>
              <a:effectLst/>
            </c:spPr>
          </c:dPt>
          <c:dPt>
            <c:idx val="3"/>
            <c:bubble3D val="0"/>
            <c:spPr>
              <a:solidFill>
                <a:srgbClr val="FED7A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Разработка (40%)</c:v>
                </c:pt>
                <c:pt idx="1">
                  <c:v>Маркетинг (25%)</c:v>
                </c:pt>
                <c:pt idx="2">
                  <c:v>Операционные (20%)</c:v>
                </c:pt>
                <c:pt idx="3">
                  <c:v>Юридические (15%)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78716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МАСТЕРОК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AI-маркетплейс строительных услуг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Находим лучших мастеров. Гарантируем результат.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2286000" cy="82296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ПЛАТФОРМА</a:t>
            </a:r>
            <a:endParaRPr lang="en-US" sz="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Web (PWA) + Android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29000" y="3657600"/>
            <a:ext cx="2286000" cy="82296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СТАДИЯ</a:t>
            </a:r>
            <a:endParaRPr lang="en-US" sz="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MVP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3657600"/>
            <a:ext cx="2286000" cy="82296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ЗАПРОС</a:t>
            </a:r>
            <a:endParaRPr lang="en-US" sz="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5 000 000 руб.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Мини-грант Сколково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 строительных услуг сломан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200400" cy="1645920"/>
          </a:xfrm>
          <a:prstGeom prst="rect">
            <a:avLst/>
          </a:prstGeom>
          <a:solidFill>
            <a:srgbClr val="F5F5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524"/>
                </a:solidFill>
              </a:rPr>
              <a:t>заказчиков сталкивались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92524"/>
                </a:solidFill>
              </a:rPr>
              <a:t>с недобросовестными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92524"/>
                </a:solidFill>
              </a:rPr>
              <a:t>исполнителями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Проблема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Частота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Срыв сроков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68%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Низкое качество работ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54%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Завышение стоимости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47%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Не найти мастера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39%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мастера: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Нестабильный поток заказов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Проблемы с получением оплаты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Высокая конкуренция с демпингом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Нет инструментов для управления репутацией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РЕШЕНИЕ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МастерОК — платформа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нового поколения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468880" cy="256032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AI-подбор специалистов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Алгоритм скоринга анализирует 6 факторов для идеального матчинга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468880" cy="256032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82880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Milestone-эскроу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Разбивка оплаты на этапы. Деньги защищены до подтверждения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468880" cy="256032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82880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&gt;&gt;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Трекинг прогресса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Ход работ в реальном времени, фотоотчёты, уведомления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7316"/>
                </a:solidFill>
              </a:rPr>
              <a:t>Результат: доверие, прозрачность и гарантия для обеих сторон.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РЫНОК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Объём и потенциал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60120" y="1463040"/>
            <a:ext cx="2011680" cy="2011680"/>
          </a:xfrm>
          <a:prstGeom prst="ellipse">
            <a:avLst/>
          </a:prstGeom>
          <a:solidFill>
            <a:srgbClr val="F97316">
              <a:alpha val="85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0665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4,2 трлн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5694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Рынок строительных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услуг РФ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0" y="1691640"/>
            <a:ext cx="1554480" cy="1554480"/>
          </a:xfrm>
          <a:prstGeom prst="ellipse">
            <a:avLst/>
          </a:prstGeom>
          <a:solidFill>
            <a:srgbClr val="FB923C">
              <a:alpha val="85000"/>
            </a:srgbClr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21579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420 млрд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254660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Онлайн-сегмент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(10%)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0" y="1874520"/>
            <a:ext cx="1188720" cy="1188720"/>
          </a:xfrm>
          <a:prstGeom prst="ellipse">
            <a:avLst/>
          </a:prstGeom>
          <a:solidFill>
            <a:srgbClr val="FDBA74">
              <a:alpha val="85000"/>
            </a:srgbClr>
          </a:solidFill>
          <a:ln w="25400">
            <a:solidFill>
              <a:srgbClr val="FDB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057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BA74"/>
                </a:solidFill>
              </a:rPr>
              <a:t>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22311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4,2 млрд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5283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Цель за 3 года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(1% SAM)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</a:rPr>
              <a:t>Драйверы роста: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Цифровизация строительной отрасли (гос. программа)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Рост доверия к онлайн-сервисам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Ежегодный рост рынка ремонтных услуг на 8-12%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78% поиска услуг — с мобильных устройств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ПРОДУКТ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возможности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ДЛЯ ЗАКАЗЧИКА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Умный поиск с AI-подсказками по 20 категориям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AI-рекомендации топ-10 мастеров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Milestone-эскроу: этапная оплата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Прогресс-трекинг: статусы и фотоотчёты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Чат с мастером в реальном времени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ДЛЯ МАСТЕРА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Персональный дашборд с аналитикой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Уведомления о подходящих заказах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Управление портфолио и отзывами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Календарь загрузки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Premium: сниженная комиссия 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КАК ЭТО РАБОТАЕТ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Путь пользователя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463040" y="1828800"/>
            <a:ext cx="6858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Создание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заказа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46304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80360" y="1828800"/>
            <a:ext cx="6858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AI подбирает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топ-10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146304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297680" y="1828800"/>
            <a:ext cx="6858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Мастер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откликается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83480" y="146304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715000" y="1828800"/>
            <a:ext cx="6858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Milestone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оплата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146304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132320" y="1828800"/>
            <a:ext cx="6858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Трекинг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прогресса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18120" y="146304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78181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4380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Приёмка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и отзыв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5F5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3474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2-4 часа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3474720" y="3474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2524"/>
                </a:solidFill>
              </a:rPr>
              <a:t>среднее время от заказа до начала работ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92524"/>
                </a:solidFill>
              </a:rPr>
              <a:t>(vs. 3-7 дней через другие площадки)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БИЗНЕС-МОДЕЛЬ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Источники дохода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468880" cy="20116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ОСНОВНОЙ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15%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С каждого завершённого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заказа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468880" cy="20116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46304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РЕКУРРЕНТНЫЙ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2 990₽/мес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Комиссия снижена до 7%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Приоритет в выдаче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468880" cy="20116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ДОПОЛНИТЕЛЬНЫЙ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Приоритетное размещение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в поисковой выдаче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Ключевые метрики: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16C"/>
                </a:solidFill>
              </a:rPr>
              <a:t>Средний чек заказа: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85 000 руб.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716C"/>
                </a:solidFill>
              </a:rPr>
              <a:t>Средняя комиссия (15%):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12 750 руб.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716C"/>
                </a:solidFill>
              </a:rPr>
              <a:t>Premium-комиссия (7%):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5 950 руб. + 2 990 руб./мес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КОНКУРЕНТЫ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Сравнительная таблица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Функция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МастерОК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Profi.ru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Remontnik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Avito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AI-матчинг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Milestone-эскроу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Частично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Трекинг прогресса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PWA + APK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Частично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Частично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Верификация мастеров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Частично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Чат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Фотоотчёты этапов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AI-оценка стоимости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Да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Нет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7316"/>
                </a:solidFill>
              </a:rPr>
              <a:t>Мы единственные, кто объединяет AI-подбор, финансовые гарантии и прозрачность в одной платформе.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ТЕХНОЛОГИИ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Технологический стек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15544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Next.js 14,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Tailwind CSS, Framer Motion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PWA + TWA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657600" cy="15544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54864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FastAPI (async Python)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SQLAlchemy, PostgreSQL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WebSocket, JWT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3657600" cy="15544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91840"/>
            <a:ext cx="54864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AI-скоринг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6 факторов матчинга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40 весовых параметров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Обучение на данных заказов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3657600" cy="15544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91840"/>
            <a:ext cx="54864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Инфраструктура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Docker Compose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YooKassa эскроу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Web Push API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ТРЕКШН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Текущий статус (MVP)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828800" cy="1280160"/>
          </a:xfrm>
          <a:prstGeom prst="rect">
            <a:avLst/>
          </a:prstGeom>
          <a:solidFill>
            <a:srgbClr val="F5F5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524"/>
                </a:solidFill>
              </a:rPr>
              <a:t>страниц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371600"/>
            <a:ext cx="1828800" cy="1280160"/>
          </a:xfrm>
          <a:prstGeom prst="rect">
            <a:avLst/>
          </a:prstGeom>
          <a:solidFill>
            <a:srgbClr val="F5F5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8892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524"/>
                </a:solidFill>
              </a:rPr>
              <a:t>API-эндпоинтов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1828800" cy="1280160"/>
          </a:xfrm>
          <a:prstGeom prst="rect">
            <a:avLst/>
          </a:prstGeom>
          <a:solidFill>
            <a:srgbClr val="F5F5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524"/>
                </a:solidFill>
              </a:rPr>
              <a:t>категорий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371600"/>
            <a:ext cx="1828800" cy="1280160"/>
          </a:xfrm>
          <a:prstGeom prst="rect">
            <a:avLst/>
          </a:prstGeom>
          <a:solidFill>
            <a:srgbClr val="F5F5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524"/>
                </a:solidFill>
              </a:rPr>
              <a:t>навыков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</a:rPr>
              <a:t>Полный цикл: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Регистрация -&gt; Заказ -&gt; Milestone-оплата -&gt; Чат -&gt; Отзыв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JWT-авторизация и система ролей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YooKassa эскроу-платежи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PWA с push-уведомлениями + APK через TWA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92524"/>
                </a:solidFill>
              </a:rPr>
              <a:t>Seed: 50 специалистов, 150 сервисов, 200+ отзывов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UNIT-ЭКОНОМИКА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показатели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20116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CAC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1 500₽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Стоимость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привлечения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920240" cy="20116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LTV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38 000₽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Пожизненная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ценность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920240" cy="20116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LTV/CAC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25x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Коэффициент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эффективности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1371600"/>
            <a:ext cx="1920240" cy="201168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Payback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9516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мес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9516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Период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окупаемости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Расчёт LTV: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3 заказа/год x 12 750₽ = 38 250₽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Каналы: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8716C"/>
                </a:solidFill>
              </a:rPr>
              <a:t>VK Ads: ~1 200₽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8716C"/>
                </a:solidFill>
              </a:rPr>
              <a:t>Яндекс.Директ: ~1 800₽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8716C"/>
                </a:solidFill>
              </a:rPr>
              <a:t>SEO: ~500₽ (с 6 мес)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ФИНАНСЫ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Три года роста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3716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Год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Год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Год 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Заказов/мес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2 000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5 000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GMV/мес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42,5М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170М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425М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Выручка/год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76,8М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306М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765М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Мастеров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1 000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5 000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15 000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Городов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7316"/>
                </a:solidFill>
              </a:rPr>
              <a:t>Выход на операционную прибыль: месяц 8-10 первого года.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КОМАНДА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Основатели и ключевые роли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200400" cy="2286000"/>
          </a:xfrm>
          <a:prstGeom prst="rect">
            <a:avLst/>
          </a:prstGeom>
          <a:solidFill>
            <a:srgbClr val="2925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CTO / Founder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</a:rPr>
              <a:t>Full-stack разработка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</a:rPr>
              <a:t>Next.js, FastAPI, PostgreSQL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</a:rPr>
              <a:t>Архитектура AI-алгоритмов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</a:rPr>
              <a:t>Опыт построения продуктов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Открытые позиции: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828800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Роль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Задачи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Маркетинг-директор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</a:rPr>
                        <a:t>Growth hacking, привлечение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5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Product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</a:rPr>
                        <a:t>Метрики, UX-исследования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Sales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</a:rPr>
                        <a:t>B2B, привлечение мастеров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5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Data Scientist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8716C"/>
                          </a:solidFill>
                        </a:rPr>
                        <a:t>Развитие AI-матчинга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РОАДМАП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План развития на 12 месяцев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768096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737360"/>
            <a:ext cx="548640" cy="548640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Q2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1828800" cy="2011680"/>
          </a:xfrm>
          <a:prstGeom prst="rect">
            <a:avLst/>
          </a:prstGeom>
          <a:solidFill>
            <a:srgbClr val="F5F5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</a:rPr>
              <a:t>Beta-запуск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100 мастеров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50+ заказов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Итерации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548640" cy="548640"/>
          </a:xfrm>
          <a:prstGeom prst="ellipse">
            <a:avLst/>
          </a:prstGeom>
          <a:solidFill>
            <a:srgbClr val="FB92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Q3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2560320"/>
            <a:ext cx="1828800" cy="2011680"/>
          </a:xfrm>
          <a:prstGeom prst="rect">
            <a:avLst/>
          </a:prstGeom>
          <a:solidFill>
            <a:srgbClr val="F5F5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</a:rPr>
              <a:t>Рост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1089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Google 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1 000 мастеров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Premium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1737360"/>
            <a:ext cx="548640" cy="548640"/>
          </a:xfrm>
          <a:prstGeom prst="ellipse">
            <a:avLst/>
          </a:prstGeom>
          <a:solidFill>
            <a:srgbClr val="FDBA7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Q4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1828800" cy="2011680"/>
          </a:xfrm>
          <a:prstGeom prst="rect">
            <a:avLst/>
          </a:prstGeom>
          <a:solidFill>
            <a:srgbClr val="F5F5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</a:rPr>
              <a:t>География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СПб + Казань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B2B-пилот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Лояльность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1737360"/>
            <a:ext cx="548640" cy="548640"/>
          </a:xfrm>
          <a:prstGeom prst="ellipse">
            <a:avLst/>
          </a:prstGeom>
          <a:solidFill>
            <a:srgbClr val="FED7A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Q1 2027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2560320"/>
            <a:ext cx="1828800" cy="2011680"/>
          </a:xfrm>
          <a:prstGeom prst="rect">
            <a:avLst/>
          </a:prstGeom>
          <a:solidFill>
            <a:srgbClr val="F5F5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</a:rPr>
              <a:t>Масштаб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31089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B2B-модуль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5 000 мастеров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92524"/>
                </a:solidFill>
              </a:rPr>
              <a:t>Seed-раунд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ЗАПРОС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Мини-грант Сколково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5 000 000 ₽</a:t>
            </a:r>
            <a:endParaRPr lang="en-US" sz="4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0312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Что получит грантодатель: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0" y="2514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</a:rPr>
              <a:t>Работающая платформа с трекшном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</a:rPr>
              <a:t>AI-технология с потенциалом патента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</a:rPr>
              <a:t>Рынок 420 млрд руб.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</a:rPr>
              <a:t>Команда с готовым MVP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4023360"/>
            <a:ext cx="365760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Seed: 30-50 млн через 6-12 мес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716C"/>
                </a:solidFill>
              </a:rPr>
              <a:t>МастерОК — строим доверие между заказчиками и мастерами.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team@masterok.ru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МастерОК — AI-маркетплейс строительных услуг</dc:title>
  <dc:subject>PptxGenJS Presentation</dc:subject>
  <dc:creator>МастерОК</dc:creator>
  <cp:lastModifiedBy>МастерОК</cp:lastModifiedBy>
  <cp:revision>1</cp:revision>
  <dcterms:created xsi:type="dcterms:W3CDTF">2026-03-23T12:27:42Z</dcterms:created>
  <dcterms:modified xsi:type="dcterms:W3CDTF">2026-03-23T12:27:42Z</dcterms:modified>
</cp:coreProperties>
</file>